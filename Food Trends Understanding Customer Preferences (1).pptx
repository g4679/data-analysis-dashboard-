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99" r:id="rId2"/>
    <p:sldId id="257" r:id="rId3"/>
    <p:sldId id="325" r:id="rId4"/>
    <p:sldId id="337" r:id="rId5"/>
    <p:sldId id="326" r:id="rId6"/>
    <p:sldId id="327" r:id="rId7"/>
    <p:sldId id="329" r:id="rId8"/>
    <p:sldId id="330" r:id="rId9"/>
    <p:sldId id="338" r:id="rId10"/>
    <p:sldId id="339" r:id="rId11"/>
    <p:sldId id="340" r:id="rId12"/>
    <p:sldId id="318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6120"/>
    <a:srgbClr val="690303"/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028BD-6B67-476F-8703-D7BEC2B6DA4F}" v="2" dt="2026-03-27T02:24:25.738"/>
  </p1510:revLst>
</p1510:revInfo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3/27/2026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3/27/2026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3/27/2026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9377-2CF7-4398-A4D9-6F1BCF8E4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4" y="709127"/>
            <a:ext cx="8637073" cy="263460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Food Trends Understanding Customer Preferences in Foods and Beverages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67237-DD9F-495A-8902-ABCA2F8EC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6645"/>
            <a:ext cx="12192000" cy="1426987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9646C8B-4F88-4550-86CB-E7211DFC6493}"/>
              </a:ext>
            </a:extLst>
          </p:cNvPr>
          <p:cNvSpPr txBox="1">
            <a:spLocks/>
          </p:cNvSpPr>
          <p:nvPr/>
        </p:nvSpPr>
        <p:spPr>
          <a:xfrm>
            <a:off x="1777464" y="3601616"/>
            <a:ext cx="8637072" cy="47827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Infosys Springboard Internship 6.0 | Final Project Presentation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2EB6BD-8B4F-40CB-8D53-62FF792D0B5A}"/>
              </a:ext>
            </a:extLst>
          </p:cNvPr>
          <p:cNvSpPr txBox="1">
            <a:spLocks/>
          </p:cNvSpPr>
          <p:nvPr/>
        </p:nvSpPr>
        <p:spPr>
          <a:xfrm>
            <a:off x="0" y="4058316"/>
            <a:ext cx="12192000" cy="47827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Project mentor -  Ajay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18F30-D1BF-6771-3848-54DB8202D431}"/>
              </a:ext>
            </a:extLst>
          </p:cNvPr>
          <p:cNvSpPr txBox="1"/>
          <p:nvPr/>
        </p:nvSpPr>
        <p:spPr>
          <a:xfrm>
            <a:off x="0" y="501053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Ambashree</a:t>
            </a:r>
            <a:r>
              <a:rPr lang="en-IN" sz="1200" b="1" dirty="0"/>
              <a:t>    Ashwini Pathe     </a:t>
            </a:r>
            <a:r>
              <a:rPr lang="en-IN" sz="1200" b="1" dirty="0" err="1"/>
              <a:t>Gorty</a:t>
            </a:r>
            <a:r>
              <a:rPr lang="en-IN" sz="1200" b="1" dirty="0"/>
              <a:t> Sree    Naga Venkata Sravani   Hardik Pandey   G nana </a:t>
            </a:r>
            <a:r>
              <a:rPr lang="en-IN" sz="1200" b="1" dirty="0" err="1"/>
              <a:t>teja</a:t>
            </a:r>
            <a:r>
              <a:rPr lang="en-IN" sz="1200" b="1" dirty="0"/>
              <a:t> </a:t>
            </a:r>
            <a:r>
              <a:rPr lang="en-IN" sz="1200" b="1" dirty="0" err="1"/>
              <a:t>sri</a:t>
            </a:r>
            <a:r>
              <a:rPr lang="en-IN" sz="1200" b="1" dirty="0"/>
              <a:t>    Manikanta Gedda     </a:t>
            </a:r>
            <a:r>
              <a:rPr lang="en-IN" sz="1200" b="1" dirty="0" err="1"/>
              <a:t>Burgala</a:t>
            </a:r>
            <a:r>
              <a:rPr lang="en-IN" sz="1200" b="1" dirty="0"/>
              <a:t> Swathi      D A  AJAY      </a:t>
            </a:r>
            <a:r>
              <a:rPr lang="en-IN" sz="1200" b="1" dirty="0" err="1"/>
              <a:t>Appapurapu</a:t>
            </a:r>
            <a:r>
              <a:rPr lang="en-IN" sz="1200" b="1" dirty="0"/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26144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Overview</a:t>
            </a:r>
          </a:p>
        </p:txBody>
      </p:sp>
      <p:pic>
        <p:nvPicPr>
          <p:cNvPr id="4" name="Graphic 3" descr="Eye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548454"/>
            <a:ext cx="96032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An interactive Power BI dashboard project 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Focus on food consumption, nutrition, and lifestyle patterns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Converts raw data into actionable insights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Helps understand customer preferences and health impact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Statement</a:t>
            </a:r>
          </a:p>
        </p:txBody>
      </p:sp>
      <p:pic>
        <p:nvPicPr>
          <p:cNvPr id="4" name="Graphic 3" descr="Lightbulb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622850"/>
            <a:ext cx="960327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Modern lifestyles have led to imbalanced dietary habits and excessive calorie consumption, increasing the risk of obesity and chronic diseases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There is limited visibility into how macronutrient intake (carbohydrates, proteins, fats) affects overall health outcomes and BMI levels.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Individuals often lack awareness of the relationship between physical activity levels and calorie balance.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Understanding how dietary preferences influence disease risk remains challenging without structured data analysis.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There is a need for an interactive system to analyze nutrition patterns, lifestyle behavior, and health indicators together in one platform.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349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9C4F9-010E-68B7-3C6E-E301B48A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61DF-6CCE-3A66-7A11-EDAFCF90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objectives </a:t>
            </a:r>
          </a:p>
        </p:txBody>
      </p:sp>
      <p:pic>
        <p:nvPicPr>
          <p:cNvPr id="4" name="Graphic 3" descr="Lightbulb">
            <a:extLst>
              <a:ext uri="{FF2B5EF4-FFF2-40B4-BE49-F238E27FC236}">
                <a16:creationId xmlns:a16="http://schemas.microsoft.com/office/drawing/2014/main" id="{8EF6666B-D16F-069C-9DD6-4273FE91C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2A947FB-1655-9B55-5EB7-158E12B67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2084515"/>
            <a:ext cx="960327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 To analyze calorie intake and macronutrient distribution across different meal types and dietary preference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To evaluate the relationship between physical activity levels and BMI variations.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 identify patterns linking dietary habits with disease risk categories.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 To examine how breakfast choices influence daily nutrition balance and health outcomes.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To develop an interactive Power BI dashboard that transforms raw nutrition data into actionable health insights for better lifestyle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65928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Data &amp; Tech Stack</a:t>
            </a:r>
          </a:p>
        </p:txBody>
      </p:sp>
      <p:pic>
        <p:nvPicPr>
          <p:cNvPr id="4" name="Graphic 3" descr="Internet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68C12C-4546-479E-A7F5-0D0AE1F63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45450"/>
              </p:ext>
            </p:extLst>
          </p:nvPr>
        </p:nvGraphicFramePr>
        <p:xfrm>
          <a:off x="1443318" y="1658470"/>
          <a:ext cx="9296400" cy="3286908"/>
        </p:xfrm>
        <a:graphic>
          <a:graphicData uri="http://schemas.openxmlformats.org/drawingml/2006/table">
            <a:tbl>
              <a:tblPr firstRow="1" firstCol="1" bandRow="1"/>
              <a:tblGrid>
                <a:gridCol w="4446494">
                  <a:extLst>
                    <a:ext uri="{9D8B030D-6E8A-4147-A177-3AD203B41FA5}">
                      <a16:colId xmlns:a16="http://schemas.microsoft.com/office/drawing/2014/main" val="748401619"/>
                    </a:ext>
                  </a:extLst>
                </a:gridCol>
                <a:gridCol w="4849906">
                  <a:extLst>
                    <a:ext uri="{9D8B030D-6E8A-4147-A177-3AD203B41FA5}">
                      <a16:colId xmlns:a16="http://schemas.microsoft.com/office/drawing/2014/main" val="2544142604"/>
                    </a:ext>
                  </a:extLst>
                </a:gridCol>
              </a:tblGrid>
              <a:tr h="6650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Includes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32775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Food items, meal types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Microsoft Power BI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64836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Calories, protein, carbs, fat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Power Query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617644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Age, gender, activity level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DAX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245442"/>
                  </a:ext>
                </a:extLst>
              </a:tr>
              <a:tr h="6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BMI, dietary preferences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dirty="0">
                          <a:effectLst/>
                          <a:latin typeface="+mj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Excel</a:t>
                      </a:r>
                    </a:p>
                  </a:txBody>
                  <a:tcPr marL="98332" marR="98332" marT="65554" marB="6555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5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24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Data Sources &amp; Processing</a:t>
            </a:r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6079" y="3530773"/>
            <a:ext cx="96032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2B5C29-8974-4F22-9FEB-37C3C470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699" y="1619193"/>
            <a:ext cx="95315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/>
              <a:t>Dataset Link - </a:t>
            </a:r>
            <a:r>
              <a:rPr lang="en-US" altLang="en-US" sz="1400" b="1" dirty="0">
                <a:solidFill>
                  <a:srgbClr val="FF0000"/>
                </a:solidFill>
              </a:rPr>
              <a:t>https://www.kaggle.com/datasets/adilshamim8/daily-food-and-nutrition-dataset/data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rgbClr val="FF0000"/>
                </a:solidFill>
              </a:rPr>
              <a:t>                                   https://www.kaggle.com/datasets/adilshamim8/daily-food-and-nutrition-dataset/data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AEF092-65A4-EA3B-6D20-4B822D86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F16CE-3EE6-BD93-789B-614917A88C65}"/>
              </a:ext>
            </a:extLst>
          </p:cNvPr>
          <p:cNvSpPr txBox="1"/>
          <p:nvPr/>
        </p:nvSpPr>
        <p:spPr>
          <a:xfrm>
            <a:off x="1595536" y="2640563"/>
            <a:ext cx="930210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 Integrated </a:t>
            </a:r>
            <a:r>
              <a:rPr lang="en-IN" sz="2000" dirty="0"/>
              <a:t>multiple Kaggle datasets for comprehensive nutrition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Combined daily dietary intake with disease-specific diet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Analyzed key  nutritional metrics including calories, protein, and macronutrients.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Applied data cleaning and preprocessing techniques using Python for reliable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187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DAX Implementation</a:t>
            </a:r>
          </a:p>
        </p:txBody>
      </p:sp>
      <p:pic>
        <p:nvPicPr>
          <p:cNvPr id="4" name="Graphic 3" descr="Document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4362" y="1519080"/>
            <a:ext cx="9603275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Total Calories Intake</a:t>
            </a:r>
            <a:r>
              <a:rPr lang="en-IN" sz="1600" dirty="0"/>
              <a:t> – Overall daily energy consumption</a:t>
            </a:r>
          </a:p>
          <a:p>
            <a:r>
              <a:rPr lang="en-IN" sz="1600" dirty="0"/>
              <a:t> </a:t>
            </a:r>
            <a:r>
              <a:rPr lang="en-IN" sz="1600" b="1" dirty="0"/>
              <a:t>Protein Intake (g)</a:t>
            </a:r>
            <a:r>
              <a:rPr lang="en-IN" sz="1600" dirty="0"/>
              <a:t> – Nutritional strength analysis</a:t>
            </a:r>
          </a:p>
          <a:p>
            <a:r>
              <a:rPr lang="en-IN" sz="1600" dirty="0"/>
              <a:t> </a:t>
            </a:r>
            <a:r>
              <a:rPr lang="en-IN" sz="1600" b="1" dirty="0"/>
              <a:t>Carbohydrates &amp; Fats %</a:t>
            </a:r>
            <a:r>
              <a:rPr lang="en-IN" sz="1600" dirty="0"/>
              <a:t> – Macronutrient distribution insights</a:t>
            </a:r>
          </a:p>
          <a:p>
            <a:r>
              <a:rPr lang="en-IN" sz="1600" b="1" dirty="0"/>
              <a:t>Calorie Deficit/Surplus</a:t>
            </a:r>
            <a:r>
              <a:rPr lang="en-IN" sz="1600" dirty="0"/>
              <a:t> – Diet balance tracking</a:t>
            </a:r>
          </a:p>
          <a:p>
            <a:r>
              <a:rPr lang="en-IN" sz="1600" dirty="0"/>
              <a:t> </a:t>
            </a:r>
            <a:r>
              <a:rPr lang="en-IN" sz="1600" b="1" dirty="0"/>
              <a:t>BMI (Body Mass Index)</a:t>
            </a:r>
            <a:r>
              <a:rPr lang="en-IN" sz="1600" dirty="0"/>
              <a:t> – Health status classification (Underweight / Normal / Overweight)</a:t>
            </a:r>
          </a:p>
          <a:p>
            <a:r>
              <a:rPr lang="en-IN" sz="1600" b="1" dirty="0"/>
              <a:t>Meal-wise Analysis</a:t>
            </a:r>
            <a:r>
              <a:rPr lang="en-IN" sz="1600" dirty="0"/>
              <a:t> – Breakfast, Lunch, Dinner comparison</a:t>
            </a:r>
          </a:p>
          <a:p>
            <a:r>
              <a:rPr lang="en-IN" sz="1600" b="1" dirty="0"/>
              <a:t>Healthy vs Unhealthy Food</a:t>
            </a:r>
            <a:r>
              <a:rPr lang="en-IN" sz="1600" dirty="0"/>
              <a:t> – Nutritional classification</a:t>
            </a:r>
          </a:p>
          <a:p>
            <a:r>
              <a:rPr lang="en-IN" sz="1600" b="1" dirty="0"/>
              <a:t>Top Consumed Foods</a:t>
            </a:r>
            <a:r>
              <a:rPr lang="en-IN" sz="1600" dirty="0"/>
              <a:t> – Frequency-based insights</a:t>
            </a:r>
          </a:p>
          <a:p>
            <a:r>
              <a:rPr lang="en-IN" sz="1600" b="1" dirty="0"/>
              <a:t>Sugar &amp; Fiber Intake</a:t>
            </a:r>
            <a:r>
              <a:rPr lang="en-IN" sz="1600" dirty="0"/>
              <a:t> – Diet quality evaluation</a:t>
            </a:r>
          </a:p>
          <a:p>
            <a:r>
              <a:rPr lang="en-IN" sz="1600" dirty="0"/>
              <a:t> </a:t>
            </a:r>
            <a:r>
              <a:rPr lang="en-IN" sz="1600" b="1" dirty="0"/>
              <a:t>Daily Trend Analysis</a:t>
            </a:r>
            <a:r>
              <a:rPr lang="en-IN" sz="1600" dirty="0"/>
              <a:t> – Consumption patterns over time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1769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960251"/>
            <a:ext cx="9603275" cy="737769"/>
          </a:xfrm>
        </p:spPr>
        <p:txBody>
          <a:bodyPr>
            <a:normAutofit/>
          </a:bodyPr>
          <a:lstStyle/>
          <a:p>
            <a:r>
              <a:rPr lang="en-US" sz="2800" b="1" dirty="0"/>
              <a:t>Dietary Preferences &amp; Averages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AEAEC0-8926-1B56-F9CC-E610FA71B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0114" y="1604866"/>
            <a:ext cx="7893698" cy="4328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0BECF1-1FCD-B907-5294-08D425E74D27}"/>
              </a:ext>
            </a:extLst>
          </p:cNvPr>
          <p:cNvSpPr txBox="1"/>
          <p:nvPr/>
        </p:nvSpPr>
        <p:spPr>
          <a:xfrm>
            <a:off x="226423" y="1664457"/>
            <a:ext cx="388153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dataset contains 773K total calories, with carbohydrates contributing the highest share (54%), followed by protein (23%) and fat (23%), indicating a carb-dominant dietary pattern.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Dinner contributes the highest calorie intake compared to breakfast, lunch, snacks, and sides, showing people consume most calories later in the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Meat-based protein sources contribute the largest calorie share among food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Items like chicken, beef, and burritos appear among the highest calorie food choices.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Categories such as condiments and vegetables contribute minimal calories, suggesting low caloric impact but possible micronutrient importance.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nutrient scatter plot shows a strong positive relationship between calories and protein, meaning higher-calorie foods tend to contain more protein.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0DCFD-BCDC-1857-6D36-ABB5206B9577}"/>
              </a:ext>
            </a:extLst>
          </p:cNvPr>
          <p:cNvSpPr txBox="1"/>
          <p:nvPr/>
        </p:nvSpPr>
        <p:spPr>
          <a:xfrm>
            <a:off x="3945293" y="53168"/>
            <a:ext cx="4301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/>
              <a:t>Dashboard Overview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578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75B64-4AE0-44C5-D6B5-A4A0B494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ACF0-5694-0C57-618D-3D686386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Nutrients &amp; Diseases</a:t>
            </a:r>
            <a:endParaRPr lang="en-US" sz="1200" b="1" dirty="0"/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01DB511C-3ECF-129E-25FA-B2EA22C78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A691C-84D7-AD88-8356-861BAF47A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068" y="1660850"/>
            <a:ext cx="7535200" cy="4245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19411-0EA5-F514-3538-755CB57C2339}"/>
              </a:ext>
            </a:extLst>
          </p:cNvPr>
          <p:cNvSpPr txBox="1"/>
          <p:nvPr/>
        </p:nvSpPr>
        <p:spPr>
          <a:xfrm>
            <a:off x="376798" y="1669088"/>
            <a:ext cx="390019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dataset includes 1,698 individuals with an average intake of 2K calories, categorized overall under moderate health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Most individuals fall under the normal BMI category (475 people), followed by overweight and obese groups.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Disease prevalence increases as BMI increases, showing a clear relationship between BMI level and disease occurrence.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Moderately active individuals consume the highest macronutrient totals, especially carbohydrates and protein.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Activity level significantly affects nutrient distribution across dietary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Dietary Risk Index value (54.70K) suggests moderate nutritional risk across the population.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Age trend analysis shows calorie intake gradually decreases after age 30.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9545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BA756-3320-EDEB-EF44-4328B8D6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F0D2-9B27-8AAD-466A-5BDEDB09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6" y="767911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Breakfast Suggestions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2D1E5F82-1F40-A9B0-D55A-66243FCB0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76DD7A-87D0-7CD8-2E8F-9DB226859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404" y="1608868"/>
            <a:ext cx="7763068" cy="4364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C04E7-9066-1BFB-07F6-92AAD60508FD}"/>
              </a:ext>
            </a:extLst>
          </p:cNvPr>
          <p:cNvSpPr txBox="1"/>
          <p:nvPr/>
        </p:nvSpPr>
        <p:spPr>
          <a:xfrm>
            <a:off x="99528" y="1632480"/>
            <a:ext cx="42298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average breakfast contains 314 calories, 48g carbohydrates, 22g protein, and 16g fat, indicating balanced macronutrient composition.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Traditional breakfast items contribute the highest calorie percentage, followed by smoothies and bread-based meals.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Protein-rich breakfasts provide higher protein per 100 calories, making them efficient for energy balance.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Breakfast calorie intake remains consistent across all age groups, suggesting stable morning eating habits.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Higher breakfast calorie intake correlates with higher BMI values in less active individuals.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Some breakfast suggestions (like oatmeal with nuts and berries) are linked with lower disease association scores, indicating healthier options.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9572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DD16C-6B64-1F7B-AC6C-06263EE8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DFAD-1A88-F3A8-B2B0-183A870B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6" y="767911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Lifestyle &amp; Nutrition Impact</a:t>
            </a:r>
          </a:p>
        </p:txBody>
      </p:sp>
      <p:pic>
        <p:nvPicPr>
          <p:cNvPr id="4" name="Graphic 3" descr="Map compass">
            <a:extLst>
              <a:ext uri="{FF2B5EF4-FFF2-40B4-BE49-F238E27FC236}">
                <a16:creationId xmlns:a16="http://schemas.microsoft.com/office/drawing/2014/main" id="{FB3FE5A5-5E76-6437-BCE7-13C887C94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0016A-01E9-F13C-2C05-A27F905AB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404" y="1567303"/>
            <a:ext cx="7790045" cy="4366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5FB09-7F98-0C94-86AC-45F7E1F80C75}"/>
              </a:ext>
            </a:extLst>
          </p:cNvPr>
          <p:cNvSpPr txBox="1"/>
          <p:nvPr/>
        </p:nvSpPr>
        <p:spPr>
          <a:xfrm>
            <a:off x="137160" y="1632480"/>
            <a:ext cx="40767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he average calorie intake across individuals is 2.28K calories, with an average BMI of 26.05, indicating slightly overweight population trends.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Only 17.08% of individuals meet target calorie intake, while 82.92% exceed recommended limits, suggesting widespread overconsumption.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Extremely active individuals consume the highest calories, while sedentary individuals consume the least.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Average BMI decreases as activity level increases, highlighting the importance of physical activity in weight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Omnivores consume the highest average protein, followed by vegetarians and vegans.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Macronutrient distribution shows carbohydrates dominate across all dietary preferences.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strong positive relationship exists between total calorie intake and protein consumption, confirming higher calorie diets include higher protein intake.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Males consume slightly more calories than females, indicating gender-based dietary variation.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862289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sz="2800" b="1" dirty="0"/>
              <a:t>Conclusion</a:t>
            </a:r>
          </a:p>
        </p:txBody>
      </p:sp>
      <p:pic>
        <p:nvPicPr>
          <p:cNvPr id="4" name="Graphic 3" descr="Presentation with bar chart RTL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CA27EE-5BB2-4BBF-97B4-991C64F58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852" y="1638003"/>
            <a:ext cx="9603275" cy="340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</a:pPr>
            <a:r>
              <a:rPr lang="en-US" sz="2800" dirty="0"/>
              <a:t>This project analyzes customer food preferences by linking diet, nutrition, and lifestyle factors.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It highlights that calorie intake, dietary choices, and activity levels directly impact health outcomes like BMI.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These insights can help in making better health decisions and improving food-related business strategies.</a:t>
            </a:r>
          </a:p>
        </p:txBody>
      </p:sp>
    </p:spTree>
    <p:extLst>
      <p:ext uri="{BB962C8B-B14F-4D97-AF65-F5344CB8AC3E}">
        <p14:creationId xmlns:p14="http://schemas.microsoft.com/office/powerpoint/2010/main" val="43437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AB3BB8-279D-483E-B34A-F7C743BA1BBD}"/>
              </a:ext>
            </a:extLst>
          </p:cNvPr>
          <p:cNvSpPr txBox="1"/>
          <p:nvPr/>
        </p:nvSpPr>
        <p:spPr>
          <a:xfrm>
            <a:off x="0" y="1859286"/>
            <a:ext cx="1219199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b="1" cap="none" dirty="0">
                <a:latin typeface="Impact" panose="020B0806030902050204" pitchFamily="34" charset="0"/>
              </a:rPr>
              <a:t>Thank</a:t>
            </a:r>
            <a:r>
              <a:rPr lang="en-US" sz="13800" b="1" cap="none" dirty="0">
                <a:latin typeface="Bahnschrift Condensed" panose="020B0502040204020203" pitchFamily="34" charset="0"/>
              </a:rPr>
              <a:t> </a:t>
            </a:r>
            <a:r>
              <a:rPr lang="en-US" sz="13800" b="1" cap="none" dirty="0">
                <a:latin typeface="Impact" panose="020B0806030902050204" pitchFamily="34" charset="0"/>
              </a:rPr>
              <a:t>You !!</a:t>
            </a:r>
            <a:endParaRPr lang="en-US" sz="13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323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 RESUME ANALYZER_PR-Stage -2 _Review_1</Template>
  <TotalTime>595</TotalTime>
  <Words>1014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Condensed</vt:lpstr>
      <vt:lpstr>Calibri</vt:lpstr>
      <vt:lpstr>Gill Sans MT</vt:lpstr>
      <vt:lpstr>Impact</vt:lpstr>
      <vt:lpstr>Gallery</vt:lpstr>
      <vt:lpstr>Food Trends Understanding Customer Preferences in Foods and Beverages </vt:lpstr>
      <vt:lpstr>Project Overview</vt:lpstr>
      <vt:lpstr>Project Statement</vt:lpstr>
      <vt:lpstr>Project objectives </vt:lpstr>
      <vt:lpstr>Data &amp; Tech Stack</vt:lpstr>
      <vt:lpstr>Data Sources &amp; Processing</vt:lpstr>
      <vt:lpstr>DAX Implementation</vt:lpstr>
      <vt:lpstr>Dietary Preferences &amp; Averages</vt:lpstr>
      <vt:lpstr>Nutrients &amp; Diseases</vt:lpstr>
      <vt:lpstr>Breakfast Suggestions</vt:lpstr>
      <vt:lpstr>Lifestyle &amp; Nutrition Impact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</dc:title>
  <dc:creator>Ashish Ransing</dc:creator>
  <cp:lastModifiedBy>Yogesh Pathe</cp:lastModifiedBy>
  <cp:revision>41</cp:revision>
  <dcterms:created xsi:type="dcterms:W3CDTF">2025-11-14T13:20:56Z</dcterms:created>
  <dcterms:modified xsi:type="dcterms:W3CDTF">2026-03-27T04:11:04Z</dcterms:modified>
</cp:coreProperties>
</file>