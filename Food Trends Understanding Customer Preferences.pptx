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15"/>
  </p:notesMasterIdLst>
  <p:handoutMasterIdLst>
    <p:handoutMasterId r:id="rId16"/>
  </p:handoutMasterIdLst>
  <p:sldIdLst>
    <p:sldId id="299" r:id="rId2"/>
    <p:sldId id="257" r:id="rId3"/>
    <p:sldId id="325" r:id="rId4"/>
    <p:sldId id="337" r:id="rId5"/>
    <p:sldId id="326" r:id="rId6"/>
    <p:sldId id="327" r:id="rId7"/>
    <p:sldId id="329" r:id="rId8"/>
    <p:sldId id="330" r:id="rId9"/>
    <p:sldId id="338" r:id="rId10"/>
    <p:sldId id="339" r:id="rId11"/>
    <p:sldId id="340" r:id="rId12"/>
    <p:sldId id="318" r:id="rId13"/>
    <p:sldId id="27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6120"/>
    <a:srgbClr val="690303"/>
    <a:srgbClr val="B71E42"/>
    <a:srgbClr val="E2DED9"/>
    <a:srgbClr val="FDFDFD"/>
    <a:srgbClr val="DEDB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A028BD-6B67-476F-8703-D7BEC2B6DA4F}" v="2" dt="2026-03-27T02:24:25.738"/>
  </p1510:revLst>
</p1510:revInfo>
</file>

<file path=ppt/tableStyles.xml><?xml version="1.0" encoding="utf-8"?>
<a:tblStyleLst xmlns:a="http://schemas.openxmlformats.org/drawingml/2006/main" def="{3C2FFA5D-87B4-456A-9821-1D502468CF0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D81DDF-98D4-498E-A94D-DDD7A807AD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91BFCE-55A1-4C09-B4B5-9359AD6F4D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E4FA28-26D5-4BDF-9A75-C27596ADE055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EEB1F3-97EE-4F0D-B402-E34820EC6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54877F-A04A-4D6A-A0A8-95CC6E2D2A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507CFE-5866-4B40-8953-42375E9B5D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2507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FE1D6F-8584-4A53-833D-DCA47225B220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F3874D-A20A-4B3E-9C12-F524953D5B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30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7464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7464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13821" y="6370429"/>
            <a:ext cx="3500715" cy="309201"/>
          </a:xfrm>
        </p:spPr>
        <p:txBody>
          <a:bodyPr/>
          <a:lstStyle/>
          <a:p>
            <a:fld id="{2D202488-4139-4052-B998-251C9C912739}" type="datetimeFigureOut">
              <a:rPr lang="en-US" noProof="0" smtClean="0"/>
              <a:t>3/31/2026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77464" y="6370430"/>
            <a:ext cx="4973915" cy="309201"/>
          </a:xfrm>
        </p:spPr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77464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400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3/31/2026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33" name="Straight Connector 32"/>
          <p:cNvCxnSpPr/>
          <p:nvPr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C414FF1F-6558-4E39-87DB-276E44F54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88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0777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3/31/2026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80777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0136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2239" y="2161853"/>
            <a:ext cx="4645152" cy="344859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8679" y="2168318"/>
            <a:ext cx="4645152" cy="34415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3/31/2026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15607D-9DE2-4687-AAF8-EF2427252A90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2F96D46B-C1B8-46AB-87DF-61A8058B1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750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7315" y="1950795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7315" y="2755515"/>
            <a:ext cx="4645152" cy="26444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2486" y="1954249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2486" y="2752737"/>
            <a:ext cx="4645152" cy="263737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3/31/2026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84AA55-1960-47F4-BA3C-E97A6F2D0B19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09471694-1220-4CFC-A31F-622E5D3DE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1749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3/31/2026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B55B52-B62C-4800-AAC1-B15AF2FE1F45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3DF0054B-B64C-418E-A1B8-428EE4A1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53955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3/31/2026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B55B52-B62C-4800-AAC1-B15AF2FE1F45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3DF0054B-B64C-418E-A1B8-428EE4A1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A680F6-C147-410B-94DF-19850752D7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94656" y="1865037"/>
            <a:ext cx="8802688" cy="31279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/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0242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3/31/2026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 </a:t>
            </a:r>
          </a:p>
        </p:txBody>
      </p:sp>
    </p:spTree>
    <p:extLst>
      <p:ext uri="{BB962C8B-B14F-4D97-AF65-F5344CB8AC3E}">
        <p14:creationId xmlns:p14="http://schemas.microsoft.com/office/powerpoint/2010/main" val="3771245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5246" y="1645522"/>
            <a:ext cx="5807176" cy="3840852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0909" y="1645522"/>
            <a:ext cx="3600000" cy="383672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3/31/2026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C09F73-0AD6-4A1E-A331-75A00B808982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1B74F78C-6D32-47C3-ABB2-6E7092A9C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81653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Gallery 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0394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3638" y="5144980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3/31/2026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C09F73-0AD6-4A1E-A331-75A00B808982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DE9A20D-024F-4A17-9B20-526AA403725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02108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7D8F60F-F9DD-4AAC-BF28-C004CCDF2D6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873638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F09FDD8-5B1C-4AAA-8EEC-0A77C9E477D1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595889" y="5144979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6DF0B7E-E17E-4875-966D-4DE67F755B71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306587" y="5144978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85D963-B130-47E9-AFCC-AEBED2B1155B}"/>
              </a:ext>
            </a:extLst>
          </p:cNvPr>
          <p:cNvCxnSpPr>
            <a:cxnSpLocks/>
          </p:cNvCxnSpPr>
          <p:nvPr userDrawn="1"/>
        </p:nvCxnSpPr>
        <p:spPr>
          <a:xfrm>
            <a:off x="4484077" y="5144978"/>
            <a:ext cx="0" cy="807405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FA9B6CF-713A-4942-BE35-A61AFCDDFD3D}"/>
              </a:ext>
            </a:extLst>
          </p:cNvPr>
          <p:cNvCxnSpPr>
            <a:cxnSpLocks/>
          </p:cNvCxnSpPr>
          <p:nvPr userDrawn="1"/>
        </p:nvCxnSpPr>
        <p:spPr>
          <a:xfrm>
            <a:off x="7757747" y="5144978"/>
            <a:ext cx="0" cy="807405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3809A32-C7A4-4739-994B-BE492F855A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0908" y="1617663"/>
            <a:ext cx="9618391" cy="1336675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C1ABD52-D5FE-4FC2-8449-5DA0E5285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2703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6069" y="6332578"/>
            <a:ext cx="4315852" cy="320123"/>
          </a:xfrm>
        </p:spPr>
        <p:txBody>
          <a:bodyPr/>
          <a:lstStyle>
            <a:lvl1pPr algn="r">
              <a:defRPr/>
            </a:lvl1pPr>
          </a:lstStyle>
          <a:p>
            <a:fld id="{2D202488-4139-4052-B998-251C9C912739}" type="datetimeFigureOut">
              <a:rPr lang="en-US" noProof="0" smtClean="0"/>
              <a:pPr/>
              <a:t>3/31/2026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6332578"/>
            <a:ext cx="5541004" cy="320931"/>
          </a:xfrm>
        </p:spPr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589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 cstate="screen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-1562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4363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96923" y="634079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2D202488-4139-4052-B998-251C9C912739}" type="datetimeFigureOut">
              <a:rPr lang="en-US" noProof="0" smtClean="0"/>
              <a:pPr/>
              <a:t>3/31/2026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4364" y="6339730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Footer Here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7587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7" r:id="rId7"/>
    <p:sldLayoutId id="2147483691" r:id="rId8"/>
    <p:sldLayoutId id="2147483692" r:id="rId9"/>
    <p:sldLayoutId id="2147483696" r:id="rId10"/>
    <p:sldLayoutId id="214748369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B9377-2CF7-4398-A4D9-6F1BCF8E48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7464" y="709127"/>
            <a:ext cx="8637073" cy="263460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Food Trends Understanding Customer Preferences in Foods and Beverages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67237-DD9F-495A-8902-ABCA2F8EC1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646645"/>
            <a:ext cx="12192000" cy="1426987"/>
          </a:xfrm>
        </p:spPr>
        <p:txBody>
          <a:bodyPr>
            <a:normAutofit/>
          </a:bodyPr>
          <a:lstStyle/>
          <a:p>
            <a:pPr algn="ctr"/>
            <a:r>
              <a:rPr lang="en-US" sz="1600" b="1" dirty="0"/>
              <a:t> 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9646C8B-4F88-4550-86CB-E7211DFC6493}"/>
              </a:ext>
            </a:extLst>
          </p:cNvPr>
          <p:cNvSpPr txBox="1">
            <a:spLocks/>
          </p:cNvSpPr>
          <p:nvPr/>
        </p:nvSpPr>
        <p:spPr>
          <a:xfrm>
            <a:off x="1777464" y="3601616"/>
            <a:ext cx="8637072" cy="478277"/>
          </a:xfrm>
          <a:prstGeom prst="rect">
            <a:avLst/>
          </a:prstGeom>
        </p:spPr>
        <p:txBody>
          <a:bodyPr vert="horz" lIns="91440" tIns="91440" rIns="91440" bIns="9144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Infosys Springboard Internship 6.0 | Final Project Presentation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42EB6BD-8B4F-40CB-8D53-62FF792D0B5A}"/>
              </a:ext>
            </a:extLst>
          </p:cNvPr>
          <p:cNvSpPr txBox="1">
            <a:spLocks/>
          </p:cNvSpPr>
          <p:nvPr/>
        </p:nvSpPr>
        <p:spPr>
          <a:xfrm>
            <a:off x="0" y="4058316"/>
            <a:ext cx="12192000" cy="478277"/>
          </a:xfrm>
          <a:prstGeom prst="rect">
            <a:avLst/>
          </a:prstGeom>
        </p:spPr>
        <p:txBody>
          <a:bodyPr vert="horz" lIns="91440" tIns="91440" rIns="91440" bIns="9144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Project mentor -  Ajay 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118F30-D1BF-6771-3848-54DB8202D431}"/>
              </a:ext>
            </a:extLst>
          </p:cNvPr>
          <p:cNvSpPr txBox="1"/>
          <p:nvPr/>
        </p:nvSpPr>
        <p:spPr>
          <a:xfrm>
            <a:off x="65315" y="4993293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 err="1"/>
              <a:t>Ambashree</a:t>
            </a:r>
            <a:r>
              <a:rPr lang="en-IN" sz="1200" b="1" dirty="0"/>
              <a:t>    Ajay D A     </a:t>
            </a:r>
            <a:r>
              <a:rPr lang="en-IN" sz="1200" b="1" dirty="0" err="1"/>
              <a:t>Appapurapu</a:t>
            </a:r>
            <a:r>
              <a:rPr lang="en-IN" sz="1200" b="1" dirty="0"/>
              <a:t> S Naga    Ashwini Pathe   </a:t>
            </a:r>
            <a:r>
              <a:rPr lang="en-IN" sz="1200" b="1" dirty="0" err="1"/>
              <a:t>Burgala</a:t>
            </a:r>
            <a:r>
              <a:rPr lang="en-IN" sz="1200" b="1" dirty="0"/>
              <a:t> Swathi    Gnana </a:t>
            </a:r>
            <a:r>
              <a:rPr lang="en-IN" sz="1200" b="1" dirty="0" err="1"/>
              <a:t>teja</a:t>
            </a:r>
            <a:r>
              <a:rPr lang="en-IN" sz="1200" b="1" dirty="0"/>
              <a:t> </a:t>
            </a:r>
            <a:r>
              <a:rPr lang="en-IN" sz="1200" b="1" dirty="0" err="1"/>
              <a:t>sri</a:t>
            </a:r>
            <a:r>
              <a:rPr lang="en-IN" sz="1200" b="1" dirty="0"/>
              <a:t>    </a:t>
            </a:r>
            <a:r>
              <a:rPr lang="en-IN" sz="1200" b="1" dirty="0" err="1"/>
              <a:t>Gorty</a:t>
            </a:r>
            <a:r>
              <a:rPr lang="en-IN" sz="1200" b="1" dirty="0"/>
              <a:t> Sree Naga Venkata Sravani    Hardik Pandey   Manikanta Gedda </a:t>
            </a:r>
          </a:p>
        </p:txBody>
      </p:sp>
    </p:spTree>
    <p:extLst>
      <p:ext uri="{BB962C8B-B14F-4D97-AF65-F5344CB8AC3E}">
        <p14:creationId xmlns:p14="http://schemas.microsoft.com/office/powerpoint/2010/main" val="2614489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sz="2800" b="1" dirty="0"/>
              <a:t>Project Overview</a:t>
            </a:r>
          </a:p>
        </p:txBody>
      </p:sp>
      <p:pic>
        <p:nvPicPr>
          <p:cNvPr id="4" name="Graphic 3" descr="Eye">
            <a:extLst>
              <a:ext uri="{FF2B5EF4-FFF2-40B4-BE49-F238E27FC236}">
                <a16:creationId xmlns:a16="http://schemas.microsoft.com/office/drawing/2014/main" id="{5E124F8C-3984-4EEC-9BA8-3B255731F2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028262" y="206686"/>
            <a:ext cx="1122450" cy="112245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1CA27EE-5BB2-4BBF-97B4-991C64F587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4362" y="1548454"/>
            <a:ext cx="960327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/>
              <a:t>An interactive Power BI dashboard project 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/>
              <a:t>Focus on food consumption, nutrition, and lifestyle patterns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/>
              <a:t>Converts raw data into actionable insights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/>
              <a:t>Helps understand customer preferences and health impact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94298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846999"/>
          </a:xfrm>
        </p:spPr>
        <p:txBody>
          <a:bodyPr>
            <a:normAutofit/>
          </a:bodyPr>
          <a:lstStyle/>
          <a:p>
            <a:r>
              <a:rPr lang="en-US" sz="2800" b="1" dirty="0"/>
              <a:t>Project Statement</a:t>
            </a:r>
          </a:p>
        </p:txBody>
      </p:sp>
      <p:pic>
        <p:nvPicPr>
          <p:cNvPr id="4" name="Graphic 3" descr="Lightbulb">
            <a:extLst>
              <a:ext uri="{FF2B5EF4-FFF2-40B4-BE49-F238E27FC236}">
                <a16:creationId xmlns:a16="http://schemas.microsoft.com/office/drawing/2014/main" id="{5E124F8C-3984-4EEC-9BA8-3B255731F2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028262" y="206686"/>
            <a:ext cx="1122450" cy="112245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1CA27EE-5BB2-4BBF-97B4-991C64F587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4362" y="1622852"/>
            <a:ext cx="9603275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/>
              <a:t>Modern lifestyles have led to imbalanced dietary habits and excessive calorie consumption, increasing the risk of obesity and chronic diseases.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/>
              <a:t>There is limited visibility into how macronutrient intake (carbohydrates, proteins, fats) affects overall health outcomes and BMI levels.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/>
              <a:t>Individuals often lack awareness of the relationship between physical activity levels and calorie balance.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/>
              <a:t>Understanding how dietary preferences influence disease risk remains challenging without structured data analysis.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/>
              <a:t>There is a need for an interactive system to analyze nutrition patterns, lifestyle behavior, and health indicators together in one platform.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93491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B9C4F9-010E-68B7-3C6E-E301B48A9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961DF-6CCE-3A66-7A11-EDAFCF909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20"/>
            <a:ext cx="9603275" cy="772354"/>
          </a:xfrm>
        </p:spPr>
        <p:txBody>
          <a:bodyPr>
            <a:normAutofit/>
          </a:bodyPr>
          <a:lstStyle/>
          <a:p>
            <a:r>
              <a:rPr lang="en-US" sz="2800" b="1" dirty="0"/>
              <a:t>Project objectives </a:t>
            </a:r>
          </a:p>
        </p:txBody>
      </p:sp>
      <p:pic>
        <p:nvPicPr>
          <p:cNvPr id="4" name="Graphic 3" descr="Lightbulb">
            <a:extLst>
              <a:ext uri="{FF2B5EF4-FFF2-40B4-BE49-F238E27FC236}">
                <a16:creationId xmlns:a16="http://schemas.microsoft.com/office/drawing/2014/main" id="{8EF6666B-D16F-069C-9DD6-4273FE91CF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028262" y="206686"/>
            <a:ext cx="1122450" cy="112245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42A947FB-1655-9B55-5EB7-158E12B676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4362" y="2084517"/>
            <a:ext cx="9603275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dirty="0"/>
              <a:t> To analyze calorie intake and macronutrient distribution across different meal types and dietary preferences.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dirty="0"/>
              <a:t>To evaluate the relationship between physical activity levels and BMI variations.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dirty="0"/>
              <a:t>To identify patterns linking dietary habits with disease risk categories.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dirty="0"/>
              <a:t>To examine how breakfast choices influence daily nutrition balance and health outcomes.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dirty="0"/>
              <a:t>To develop an interactive Power BI dashboard that transforms raw nutrition data into actionable health insights for better lifestyle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659284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sz="2800" b="1" dirty="0"/>
              <a:t>Data &amp; Tech Stack</a:t>
            </a:r>
          </a:p>
        </p:txBody>
      </p:sp>
      <p:pic>
        <p:nvPicPr>
          <p:cNvPr id="4" name="Graphic 3" descr="Internet">
            <a:extLst>
              <a:ext uri="{FF2B5EF4-FFF2-40B4-BE49-F238E27FC236}">
                <a16:creationId xmlns:a16="http://schemas.microsoft.com/office/drawing/2014/main" id="{5E124F8C-3984-4EEC-9BA8-3B255731F2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028262" y="206686"/>
            <a:ext cx="1122450" cy="112245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668C12C-4546-479E-A7F5-0D0AE1F63C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345450"/>
              </p:ext>
            </p:extLst>
          </p:nvPr>
        </p:nvGraphicFramePr>
        <p:xfrm>
          <a:off x="1443318" y="1658470"/>
          <a:ext cx="9296400" cy="3286908"/>
        </p:xfrm>
        <a:graphic>
          <a:graphicData uri="http://schemas.openxmlformats.org/drawingml/2006/table">
            <a:tbl>
              <a:tblPr firstRow="1" firstCol="1" bandRow="1"/>
              <a:tblGrid>
                <a:gridCol w="4446494">
                  <a:extLst>
                    <a:ext uri="{9D8B030D-6E8A-4147-A177-3AD203B41FA5}">
                      <a16:colId xmlns:a16="http://schemas.microsoft.com/office/drawing/2014/main" val="748401619"/>
                    </a:ext>
                  </a:extLst>
                </a:gridCol>
                <a:gridCol w="4849906">
                  <a:extLst>
                    <a:ext uri="{9D8B030D-6E8A-4147-A177-3AD203B41FA5}">
                      <a16:colId xmlns:a16="http://schemas.microsoft.com/office/drawing/2014/main" val="2544142604"/>
                    </a:ext>
                  </a:extLst>
                </a:gridCol>
              </a:tblGrid>
              <a:tr h="6650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1" dirty="0">
                          <a:effectLst/>
                          <a:latin typeface="+mj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Data Includes</a:t>
                      </a:r>
                    </a:p>
                  </a:txBody>
                  <a:tcPr marL="98332" marR="98332" marT="65554" marB="6555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1" dirty="0">
                          <a:effectLst/>
                          <a:latin typeface="+mj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Tools Used</a:t>
                      </a:r>
                    </a:p>
                  </a:txBody>
                  <a:tcPr marL="98332" marR="98332" marT="65554" marB="6555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232775"/>
                  </a:ext>
                </a:extLst>
              </a:tr>
              <a:tr h="6554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0" dirty="0">
                          <a:effectLst/>
                          <a:latin typeface="+mj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Food items, meal types</a:t>
                      </a:r>
                    </a:p>
                  </a:txBody>
                  <a:tcPr marL="98332" marR="98332" marT="65554" marB="6555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0" dirty="0">
                          <a:effectLst/>
                          <a:latin typeface="+mj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Microsoft Power BI</a:t>
                      </a:r>
                    </a:p>
                  </a:txBody>
                  <a:tcPr marL="98332" marR="98332" marT="65554" marB="6555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64836"/>
                  </a:ext>
                </a:extLst>
              </a:tr>
              <a:tr h="6554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0" dirty="0">
                          <a:effectLst/>
                          <a:latin typeface="+mj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Calories, protein, carbs, fat</a:t>
                      </a:r>
                    </a:p>
                  </a:txBody>
                  <a:tcPr marL="98332" marR="98332" marT="65554" marB="6555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0" dirty="0">
                          <a:effectLst/>
                          <a:latin typeface="+mj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Power Query</a:t>
                      </a:r>
                    </a:p>
                  </a:txBody>
                  <a:tcPr marL="98332" marR="98332" marT="65554" marB="6555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617644"/>
                  </a:ext>
                </a:extLst>
              </a:tr>
              <a:tr h="6554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0" dirty="0">
                          <a:effectLst/>
                          <a:latin typeface="+mj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Age, gender, activity level</a:t>
                      </a:r>
                    </a:p>
                  </a:txBody>
                  <a:tcPr marL="98332" marR="98332" marT="65554" marB="6555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0" dirty="0">
                          <a:effectLst/>
                          <a:latin typeface="+mj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DAX</a:t>
                      </a:r>
                    </a:p>
                  </a:txBody>
                  <a:tcPr marL="98332" marR="98332" marT="65554" marB="6555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245442"/>
                  </a:ext>
                </a:extLst>
              </a:tr>
              <a:tr h="6554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0" dirty="0">
                          <a:effectLst/>
                          <a:latin typeface="+mj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BMI, dietary preferences</a:t>
                      </a:r>
                    </a:p>
                  </a:txBody>
                  <a:tcPr marL="98332" marR="98332" marT="65554" marB="6555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0" dirty="0">
                          <a:effectLst/>
                          <a:latin typeface="+mj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Excel</a:t>
                      </a:r>
                    </a:p>
                  </a:txBody>
                  <a:tcPr marL="98332" marR="98332" marT="65554" marB="6555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354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9248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sz="2800" b="1" dirty="0"/>
              <a:t>Data Sources &amp; Processing</a:t>
            </a:r>
          </a:p>
        </p:txBody>
      </p:sp>
      <p:pic>
        <p:nvPicPr>
          <p:cNvPr id="4" name="Graphic 3" descr="Database">
            <a:extLst>
              <a:ext uri="{FF2B5EF4-FFF2-40B4-BE49-F238E27FC236}">
                <a16:creationId xmlns:a16="http://schemas.microsoft.com/office/drawing/2014/main" id="{5E124F8C-3984-4EEC-9BA8-3B255731F2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028262" y="206686"/>
            <a:ext cx="1122450" cy="112245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1CA27EE-5BB2-4BBF-97B4-991C64F587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66079" y="3530773"/>
            <a:ext cx="960327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62B5C29-8974-4F22-9FEB-37C3C4704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3699" y="1619193"/>
            <a:ext cx="9531558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/>
              <a:t>Dataset Link - </a:t>
            </a:r>
            <a:r>
              <a:rPr lang="en-US" altLang="en-US" sz="1400" b="1" dirty="0">
                <a:solidFill>
                  <a:srgbClr val="FF0000"/>
                </a:solidFill>
              </a:rPr>
              <a:t>https://www.kaggle.com/datasets/adilshamim8/daily-food-and-nutrition-dataset/data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b="1" dirty="0">
                <a:solidFill>
                  <a:srgbClr val="FF0000"/>
                </a:solidFill>
              </a:rPr>
              <a:t>                                   https://www.kaggle.com/datasets/bitanianielsen/nutrition-daily-meals-in-diseases-cases</a:t>
            </a:r>
            <a:endParaRPr lang="en-US" altLang="en-US" sz="1400" dirty="0">
              <a:solidFill>
                <a:srgbClr val="FF0000"/>
              </a:solidFill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5AEF092-65A4-EA3B-6D20-4B822D865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4F16CE-3EE6-BD93-789B-614917A88C65}"/>
              </a:ext>
            </a:extLst>
          </p:cNvPr>
          <p:cNvSpPr txBox="1"/>
          <p:nvPr/>
        </p:nvSpPr>
        <p:spPr>
          <a:xfrm>
            <a:off x="1595536" y="2640563"/>
            <a:ext cx="9302102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Integrated </a:t>
            </a:r>
            <a:r>
              <a:rPr lang="en-IN" sz="2000" dirty="0"/>
              <a:t>multiple Kaggle datasets for comprehensive nutrition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Combined daily dietary intake with disease-specific diet recommendations.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Analyzed key  nutritional metrics including calories, protein, and macronutrients.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Applied data cleaning and preprocessing techniques using Python for reliable insights.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9187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sz="2800" b="1" dirty="0"/>
              <a:t>DAX Implementation</a:t>
            </a:r>
          </a:p>
        </p:txBody>
      </p:sp>
      <p:pic>
        <p:nvPicPr>
          <p:cNvPr id="4" name="Graphic 3" descr="Document">
            <a:extLst>
              <a:ext uri="{FF2B5EF4-FFF2-40B4-BE49-F238E27FC236}">
                <a16:creationId xmlns:a16="http://schemas.microsoft.com/office/drawing/2014/main" id="{5E124F8C-3984-4EEC-9BA8-3B255731F2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028262" y="206686"/>
            <a:ext cx="1122450" cy="112245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1CA27EE-5BB2-4BBF-97B4-991C64F587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4362" y="1519080"/>
            <a:ext cx="9603275" cy="4447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600" b="1" dirty="0"/>
              <a:t>Total Calories Intake</a:t>
            </a:r>
            <a:r>
              <a:rPr lang="en-IN" sz="1600" dirty="0"/>
              <a:t> – Overall daily energy consumption</a:t>
            </a:r>
          </a:p>
          <a:p>
            <a:r>
              <a:rPr lang="en-IN" sz="1600" b="1" dirty="0"/>
              <a:t>Protein Intake (g)</a:t>
            </a:r>
            <a:r>
              <a:rPr lang="en-IN" sz="1600" dirty="0"/>
              <a:t> – Nutritional strength analysis</a:t>
            </a:r>
          </a:p>
          <a:p>
            <a:r>
              <a:rPr lang="en-IN" sz="1600" b="1" dirty="0"/>
              <a:t>Carbohydrates &amp; Fats %</a:t>
            </a:r>
            <a:r>
              <a:rPr lang="en-IN" sz="1600" dirty="0"/>
              <a:t> – Macronutrient distribution insights</a:t>
            </a:r>
          </a:p>
          <a:p>
            <a:r>
              <a:rPr lang="en-IN" sz="1600" b="1" dirty="0"/>
              <a:t>Calorie Deficit/Surplus</a:t>
            </a:r>
            <a:r>
              <a:rPr lang="en-IN" sz="1600" dirty="0"/>
              <a:t> – Diet balance tracking</a:t>
            </a:r>
          </a:p>
          <a:p>
            <a:r>
              <a:rPr lang="en-IN" sz="1600" b="1" dirty="0"/>
              <a:t>BMI (Body Mass Index)</a:t>
            </a:r>
            <a:r>
              <a:rPr lang="en-IN" sz="1600" dirty="0"/>
              <a:t> – Health status classification (Underweight / Normal / Overweight)</a:t>
            </a:r>
          </a:p>
          <a:p>
            <a:r>
              <a:rPr lang="en-IN" sz="1600" b="1" dirty="0"/>
              <a:t>Meal-wise Analysis</a:t>
            </a:r>
            <a:r>
              <a:rPr lang="en-IN" sz="1600" dirty="0"/>
              <a:t> – Breakfast, Lunch, Dinner comparison</a:t>
            </a:r>
          </a:p>
          <a:p>
            <a:r>
              <a:rPr lang="en-IN" sz="1600" b="1" dirty="0"/>
              <a:t>Healthy vs Unhealthy Food</a:t>
            </a:r>
            <a:r>
              <a:rPr lang="en-IN" sz="1600" dirty="0"/>
              <a:t> – Nutritional classification</a:t>
            </a:r>
          </a:p>
          <a:p>
            <a:r>
              <a:rPr lang="en-IN" sz="1600" b="1" dirty="0"/>
              <a:t>Top Consumed Foods</a:t>
            </a:r>
            <a:r>
              <a:rPr lang="en-IN" sz="1600" dirty="0"/>
              <a:t> – Frequency-based insights</a:t>
            </a:r>
          </a:p>
          <a:p>
            <a:r>
              <a:rPr lang="en-IN" sz="1600" b="1" dirty="0"/>
              <a:t>Sugar &amp; Fiber Intake</a:t>
            </a:r>
            <a:r>
              <a:rPr lang="en-IN" sz="1600" dirty="0"/>
              <a:t> – Diet quality evaluation</a:t>
            </a:r>
          </a:p>
          <a:p>
            <a:r>
              <a:rPr lang="en-IN" sz="1600" b="1" dirty="0"/>
              <a:t>Daily Trend Analysis</a:t>
            </a:r>
            <a:r>
              <a:rPr lang="en-IN" sz="1600" dirty="0"/>
              <a:t> – Consumption patterns over time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91769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960251"/>
            <a:ext cx="9603275" cy="737769"/>
          </a:xfrm>
        </p:spPr>
        <p:txBody>
          <a:bodyPr>
            <a:normAutofit/>
          </a:bodyPr>
          <a:lstStyle/>
          <a:p>
            <a:r>
              <a:rPr lang="en-US" sz="2800" b="1" dirty="0"/>
              <a:t>Dietary Preferences &amp; Averages</a:t>
            </a:r>
          </a:p>
        </p:txBody>
      </p:sp>
      <p:pic>
        <p:nvPicPr>
          <p:cNvPr id="4" name="Graphic 3" descr="Map compass">
            <a:extLst>
              <a:ext uri="{FF2B5EF4-FFF2-40B4-BE49-F238E27FC236}">
                <a16:creationId xmlns:a16="http://schemas.microsoft.com/office/drawing/2014/main" id="{5E124F8C-3984-4EEC-9BA8-3B255731F2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028262" y="206686"/>
            <a:ext cx="1122450" cy="1122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AEAEC0-8926-1B56-F9CC-E610FA71B0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48752" y="1604866"/>
            <a:ext cx="7756422" cy="43288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0BECF1-1FCD-B907-5294-08D425E74D27}"/>
              </a:ext>
            </a:extLst>
          </p:cNvPr>
          <p:cNvSpPr txBox="1"/>
          <p:nvPr/>
        </p:nvSpPr>
        <p:spPr>
          <a:xfrm>
            <a:off x="226423" y="1664457"/>
            <a:ext cx="388153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dataset contains 773K total calories, with carbohydrates contributing the highest share (54%), followed by protein (23%) and fat (23%), indicating a carb-dominant dietary pattern.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Dinner contributes the highest calorie intake compared to breakfast, lunch, snacks, and sides, showing people consume most calories later in the day.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Meat-based protein sources contribute the largest calorie share among food categories.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Items like chicken, beef, and burritos appear among the highest calorie food choices.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Categories such as condiments and vegetables contribute minimal calories, suggesting low caloric impact but possible micronutrient importance.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nutrient scatter plot shows a strong positive relationship between calories and protein, meaning higher-calorie foods tend to contain more protein.</a:t>
            </a:r>
            <a:endParaRPr lang="en-IN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40DCFD-BCDC-1857-6D36-ABB5206B9577}"/>
              </a:ext>
            </a:extLst>
          </p:cNvPr>
          <p:cNvSpPr txBox="1"/>
          <p:nvPr/>
        </p:nvSpPr>
        <p:spPr>
          <a:xfrm>
            <a:off x="3945293" y="53168"/>
            <a:ext cx="43014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</a:t>
            </a:r>
            <a:r>
              <a:rPr lang="en-US" sz="3200" b="1" dirty="0"/>
              <a:t>Dashboard Overview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05780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675B64-4AE0-44C5-D6B5-A4A0B494F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CACF0-5694-0C57-618D-3D6863867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sz="2800" b="1" dirty="0"/>
              <a:t>Nutrients &amp; Diseases</a:t>
            </a:r>
            <a:endParaRPr lang="en-US" sz="1200" b="1" dirty="0"/>
          </a:p>
        </p:txBody>
      </p:sp>
      <p:pic>
        <p:nvPicPr>
          <p:cNvPr id="4" name="Graphic 3" descr="Map compass">
            <a:extLst>
              <a:ext uri="{FF2B5EF4-FFF2-40B4-BE49-F238E27FC236}">
                <a16:creationId xmlns:a16="http://schemas.microsoft.com/office/drawing/2014/main" id="{01DB511C-3ECF-129E-25FA-B2EA22C785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028262" y="206686"/>
            <a:ext cx="1122450" cy="11224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9A691C-84D7-AD88-8356-861BAF47AF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30068" y="1669330"/>
            <a:ext cx="7535200" cy="42284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919411-0EA5-F514-3538-755CB57C2339}"/>
              </a:ext>
            </a:extLst>
          </p:cNvPr>
          <p:cNvSpPr txBox="1"/>
          <p:nvPr/>
        </p:nvSpPr>
        <p:spPr>
          <a:xfrm>
            <a:off x="376798" y="1669088"/>
            <a:ext cx="3900196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dataset includes 1,698 individuals with an average intake of 2K calories, categorized overall under moderate health risk.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Most individuals fall under the normal BMI category (475 people), followed by overweight and obese groups.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Disease prevalence increases as BMI increases, showing a clear relationship between BMI level and disease occurrence.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Moderately active individuals consume the highest macronutrient totals, especially carbohydrates and protein.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Activity level significantly affects nutrient distribution across dietary preferences.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Dietary Risk Index value (54.70K) suggests moderate nutritional risk across the population.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Age trend analysis shows calorie intake gradually decreases after age 30.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695454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CBA756-3320-EDEB-EF44-4328B8D6E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7F0D2-9B27-8AAD-466A-5BDEDB097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726" y="767911"/>
            <a:ext cx="9603275" cy="1049235"/>
          </a:xfrm>
        </p:spPr>
        <p:txBody>
          <a:bodyPr>
            <a:normAutofit/>
          </a:bodyPr>
          <a:lstStyle/>
          <a:p>
            <a:r>
              <a:rPr lang="en-US" sz="2800" b="1" dirty="0"/>
              <a:t>Breakfast Suggestions</a:t>
            </a:r>
          </a:p>
        </p:txBody>
      </p:sp>
      <p:pic>
        <p:nvPicPr>
          <p:cNvPr id="4" name="Graphic 3" descr="Map compass">
            <a:extLst>
              <a:ext uri="{FF2B5EF4-FFF2-40B4-BE49-F238E27FC236}">
                <a16:creationId xmlns:a16="http://schemas.microsoft.com/office/drawing/2014/main" id="{2D1E5F82-1F40-A9B0-D55A-66243FCB0C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028262" y="206686"/>
            <a:ext cx="1122450" cy="11224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76DD7A-87D0-7CD8-2E8F-9DB226859A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34664" y="1608868"/>
            <a:ext cx="7752547" cy="43641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4C04E7-9066-1BFB-07F6-92AAD60508FD}"/>
              </a:ext>
            </a:extLst>
          </p:cNvPr>
          <p:cNvSpPr txBox="1"/>
          <p:nvPr/>
        </p:nvSpPr>
        <p:spPr>
          <a:xfrm>
            <a:off x="99528" y="1632480"/>
            <a:ext cx="422987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average breakfast contains 314 calories, 48g carbohydrates, 22g protein, and 16g fat, indicating balanced macronutrient composition.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Traditional breakfast items contribute the highest calorie percentage, followed by smoothies and bread-based meals.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Protein-rich breakfasts provide higher protein per 100 calories, making them efficient for energy balance.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Breakfast calorie intake remains consistent across all age groups, suggesting stable morning eating habits.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Higher breakfast calorie intake correlates with higher BMI values in less active individuals.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Some breakfast suggestions (like oatmeal with nuts and berries) are linked with lower disease association scores, indicating healthier options.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095724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ADD16C-6B64-1F7B-AC6C-06263EE8A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4DFAD-1A88-F3A8-B2B0-183A870BF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726" y="767911"/>
            <a:ext cx="9603275" cy="1049235"/>
          </a:xfrm>
        </p:spPr>
        <p:txBody>
          <a:bodyPr>
            <a:normAutofit/>
          </a:bodyPr>
          <a:lstStyle/>
          <a:p>
            <a:r>
              <a:rPr lang="en-US" sz="2800" b="1" dirty="0"/>
              <a:t>Lifestyle &amp; Nutrition Impact</a:t>
            </a:r>
          </a:p>
        </p:txBody>
      </p:sp>
      <p:pic>
        <p:nvPicPr>
          <p:cNvPr id="4" name="Graphic 3" descr="Map compass">
            <a:extLst>
              <a:ext uri="{FF2B5EF4-FFF2-40B4-BE49-F238E27FC236}">
                <a16:creationId xmlns:a16="http://schemas.microsoft.com/office/drawing/2014/main" id="{FB3FE5A5-5E76-6437-BCE7-13C887C94D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028262" y="206686"/>
            <a:ext cx="1122450" cy="1122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C0016A-01E9-F13C-2C05-A27F905ABB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29404" y="1577930"/>
            <a:ext cx="7790045" cy="43457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55FB09-7F98-0C94-86AC-45F7E1F80C75}"/>
              </a:ext>
            </a:extLst>
          </p:cNvPr>
          <p:cNvSpPr txBox="1"/>
          <p:nvPr/>
        </p:nvSpPr>
        <p:spPr>
          <a:xfrm>
            <a:off x="137160" y="1632480"/>
            <a:ext cx="407670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he average calorie intake across individuals is 2.28K calories, with an average BMI of 26.05, indicating slightly overweight population trends.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Only 17.08% of individuals meet target calorie intake, while 82.92% exceed recommended limits, suggesting widespread overconsumption.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Extremely active individuals consume the highest calories, while sedentary individuals consume the least.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Average BMI decreases as activity level increases, highlighting the importance of physical activity in weight management.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Omnivores consume the highest average protein, followed by vegetarians and vegans.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Macronutrient distribution shows carbohydrates dominate across all dietary preferences.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A strong positive relationship exists between total calorie intake and protein consumption, confirming higher calorie diets include higher protein intake.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Males consume slightly more calories than females, indicating gender-based dietary variation.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1862289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sz="2800" b="1" dirty="0"/>
              <a:t>Conclusion</a:t>
            </a:r>
          </a:p>
        </p:txBody>
      </p:sp>
      <p:pic>
        <p:nvPicPr>
          <p:cNvPr id="4" name="Graphic 3" descr="Presentation with bar chart RTL">
            <a:extLst>
              <a:ext uri="{FF2B5EF4-FFF2-40B4-BE49-F238E27FC236}">
                <a16:creationId xmlns:a16="http://schemas.microsoft.com/office/drawing/2014/main" id="{5E124F8C-3984-4EEC-9BA8-3B255731F2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028262" y="206686"/>
            <a:ext cx="1122450" cy="112245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1CA27EE-5BB2-4BBF-97B4-991C64F587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3852" y="1638003"/>
            <a:ext cx="9603275" cy="340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Clr>
                <a:schemeClr val="tx1"/>
              </a:buClr>
            </a:pPr>
            <a:r>
              <a:rPr lang="en-US" sz="2800" dirty="0"/>
              <a:t>This project analyzes customer food preferences by linking diet, nutrition, and lifestyle factors.</a:t>
            </a:r>
          </a:p>
          <a:p>
            <a:pPr>
              <a:buClr>
                <a:schemeClr val="tx1"/>
              </a:buClr>
            </a:pPr>
            <a:r>
              <a:rPr lang="en-US" sz="2800" dirty="0"/>
              <a:t>It highlights that calorie intake, dietary choices, and activity levels directly impact health outcomes like BMI.</a:t>
            </a:r>
          </a:p>
          <a:p>
            <a:pPr>
              <a:buClr>
                <a:schemeClr val="tx1"/>
              </a:buClr>
            </a:pPr>
            <a:r>
              <a:rPr lang="en-US" sz="2800" dirty="0"/>
              <a:t>These insights can help in making better health decisions and improving food-related business strategies.</a:t>
            </a:r>
          </a:p>
        </p:txBody>
      </p:sp>
    </p:spTree>
    <p:extLst>
      <p:ext uri="{BB962C8B-B14F-4D97-AF65-F5344CB8AC3E}">
        <p14:creationId xmlns:p14="http://schemas.microsoft.com/office/powerpoint/2010/main" val="434377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AB3BB8-279D-483E-B34A-F7C743BA1BBD}"/>
              </a:ext>
            </a:extLst>
          </p:cNvPr>
          <p:cNvSpPr txBox="1"/>
          <p:nvPr/>
        </p:nvSpPr>
        <p:spPr>
          <a:xfrm>
            <a:off x="0" y="1859286"/>
            <a:ext cx="12191999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800" b="1" cap="none" dirty="0">
                <a:latin typeface="Impact" panose="020B0806030902050204" pitchFamily="34" charset="0"/>
              </a:rPr>
              <a:t>Thank</a:t>
            </a:r>
            <a:r>
              <a:rPr lang="en-US" sz="13800" b="1" cap="none" dirty="0">
                <a:latin typeface="Bahnschrift Condensed" panose="020B0502040204020203" pitchFamily="34" charset="0"/>
              </a:rPr>
              <a:t> </a:t>
            </a:r>
            <a:r>
              <a:rPr lang="en-US" sz="13800" b="1" cap="none" dirty="0">
                <a:latin typeface="Impact" panose="020B0806030902050204" pitchFamily="34" charset="0"/>
              </a:rPr>
              <a:t>You !!</a:t>
            </a:r>
            <a:endParaRPr lang="en-US" sz="138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1323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Custom 10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84582C"/>
      </a:accent2>
      <a:accent3>
        <a:srgbClr val="002060"/>
      </a:accent3>
      <a:accent4>
        <a:srgbClr val="586EA6"/>
      </a:accent4>
      <a:accent5>
        <a:srgbClr val="586EA6"/>
      </a:accent5>
      <a:accent6>
        <a:srgbClr val="6892A0"/>
      </a:accent6>
      <a:hlink>
        <a:srgbClr val="B71E42"/>
      </a:hlink>
      <a:folHlink>
        <a:srgbClr val="586EA6"/>
      </a:folHlink>
    </a:clrScheme>
    <a:fontScheme name="Default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>
    <a:spDef>
      <a:spPr>
        <a:solidFill>
          <a:srgbClr val="B71E4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31750"/>
      </a:spPr>
      <a:bodyPr/>
      <a:lstStyle/>
      <a:style>
        <a:lnRef idx="3">
          <a:schemeClr val="accent1"/>
        </a:lnRef>
        <a:fillRef idx="0">
          <a:schemeClr val="accent1"/>
        </a:fillRef>
        <a:effectRef idx="2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66921596_win32_fixed.potx" id="{F81442EF-054B-43F2-9D42-4AC72B9AFB37}" vid="{A487745B-CFD4-4F4A-9F31-FD463ACA8A6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 RESUME ANALYZER_PR-Stage -2 _Review_1</Template>
  <TotalTime>3480</TotalTime>
  <Words>1008</Words>
  <Application>Microsoft Office PowerPoint</Application>
  <PresentationFormat>Widescreen</PresentationFormat>
  <Paragraphs>127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Bahnschrift Condensed</vt:lpstr>
      <vt:lpstr>Calibri</vt:lpstr>
      <vt:lpstr>Gill Sans MT</vt:lpstr>
      <vt:lpstr>Impact</vt:lpstr>
      <vt:lpstr>Gallery</vt:lpstr>
      <vt:lpstr>Food Trends Understanding Customer Preferences in Foods and Beverages </vt:lpstr>
      <vt:lpstr>Project Overview</vt:lpstr>
      <vt:lpstr>Project Statement</vt:lpstr>
      <vt:lpstr>Project objectives </vt:lpstr>
      <vt:lpstr>Data &amp; Tech Stack</vt:lpstr>
      <vt:lpstr>Data Sources &amp; Processing</vt:lpstr>
      <vt:lpstr>DAX Implementation</vt:lpstr>
      <vt:lpstr>Dietary Preferences &amp; Averages</vt:lpstr>
      <vt:lpstr>Nutrients &amp; Diseases</vt:lpstr>
      <vt:lpstr>Breakfast Suggestions</vt:lpstr>
      <vt:lpstr>Lifestyle &amp; Nutrition Impact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</dc:title>
  <dc:creator>Ashish Ransing</dc:creator>
  <cp:lastModifiedBy>Amber Shree</cp:lastModifiedBy>
  <cp:revision>45</cp:revision>
  <dcterms:created xsi:type="dcterms:W3CDTF">2025-11-14T13:20:56Z</dcterms:created>
  <dcterms:modified xsi:type="dcterms:W3CDTF">2026-04-02T13:16:24Z</dcterms:modified>
</cp:coreProperties>
</file>